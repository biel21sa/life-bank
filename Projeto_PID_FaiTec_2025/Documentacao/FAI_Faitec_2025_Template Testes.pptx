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2.png" ContentType="image/png"/>
  <Override PartName="/ppt/media/image9.jpeg" ContentType="image/jpeg"/>
  <Override PartName="/ppt/media/image11.jpeg" ContentType="image/jpeg"/>
  <Override PartName="/ppt/media/image13.jpeg" ContentType="image/jpeg"/>
  <Override PartName="/ppt/media/image17.png" ContentType="image/png"/>
  <Override PartName="/ppt/media/image4.jpeg" ContentType="image/jpeg"/>
  <Override PartName="/ppt/media/image16.png" ContentType="image/pn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5.jpeg" ContentType="image/jpeg"/>
  <Override PartName="/ppt/media/image10.png" ContentType="image/pn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576FF-22F4-4D7D-A2C4-6F6C34F423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40080" y="2633400"/>
            <a:ext cx="108907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031DB2-C76E-4096-AA43-2F045C87C2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108907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7ABB08-236F-4501-818A-1E889CD41D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35F1F4-09B6-42C4-BB06-A79DE2C89C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4BA03-89B3-4A49-9B1C-7D5A34A3E4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40080" y="1371600"/>
            <a:ext cx="10890720" cy="50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7F3FF-1D10-4CE9-A084-C76CBB55F1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7444B4-B8F2-4547-BD3A-BB93DB3FC3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2044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64BBFF-D357-4DD4-BB6F-F24DF0A6F7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9070B0-0083-4E9D-9284-B3CD71D0E0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40080" y="449604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061C4-8348-4A21-B851-FDCDB2FFB8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2044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DBCDBB-AD57-41F9-9088-2FF149C512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2216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0424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4008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2216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0424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8D639-11F3-42DB-95D0-D1C6FB50C1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606555-1FE1-4EEC-BF15-1C4338DE30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40080" y="2633400"/>
            <a:ext cx="108907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E8CCB5-DD4A-44DE-81C3-E2B75E7159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108907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8833A-D028-4810-A598-48C82F726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90301C-D2DF-49B3-86DC-82575B32A4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D0EDC7-F14A-4212-993F-E7D3F53CFC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40080" y="1371600"/>
            <a:ext cx="10890720" cy="50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DEB63-CAA4-41E5-B87C-39AEA772B7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E92728-FB7D-4C1C-A8EE-162598D0B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2044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4AE74C-E235-4178-8EF3-3D98B7D5CB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189CC0-CAA6-4C8E-8DFC-733662E1F8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40080" y="4496040"/>
            <a:ext cx="108907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D72BD-220A-4D3F-B274-1312EEB269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20440" y="263340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4008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20440" y="4496040"/>
            <a:ext cx="531432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68536C-A9A4-4CEB-BC92-88E7F2A8AC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4008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2216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04240" y="263340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4008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2216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04240" y="4496040"/>
            <a:ext cx="3506400" cy="17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20000"/>
              </a:lnSpc>
              <a:spcBef>
                <a:spcPts val="1417"/>
              </a:spcBef>
              <a:buNone/>
            </a:pP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21F811-1D79-4DD6-B547-13A7A96867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traight Connector 8"/>
          <p:cNvSpPr/>
          <p:nvPr/>
        </p:nvSpPr>
        <p:spPr>
          <a:xfrm>
            <a:off x="713160" y="1030680"/>
            <a:ext cx="978840" cy="360"/>
          </a:xfrm>
          <a:prstGeom prst="line">
            <a:avLst/>
          </a:prstGeom>
          <a:ln w="76200">
            <a:solidFill>
              <a:srgbClr val="197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6674760" cy="2951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Grandview Display"/>
              </a:rPr>
              <a:t>Click to edit Master title style</a:t>
            </a:r>
            <a:endParaRPr b="0" lang="de-DE" sz="54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40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900" spc="299" strike="noStrike" cap="all">
                <a:solidFill>
                  <a:srgbClr val="000000"/>
                </a:solidFill>
                <a:latin typeface="Grandview Display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rgbClr val="000000"/>
                </a:solidFill>
                <a:latin typeface="Grandview Display"/>
              </a:rPr>
              <a:t>&lt;data/hora&gt;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299" strike="noStrike" cap="all">
                <a:solidFill>
                  <a:srgbClr val="000000"/>
                </a:solidFill>
                <a:latin typeface="Grandview Display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88A59C-8E93-4F11-A6F4-333881D1D320}" type="slidenum">
              <a:rPr b="1" lang="en-US" sz="900" spc="299" strike="noStrike" cap="all">
                <a:solidFill>
                  <a:srgbClr val="000000"/>
                </a:solidFill>
                <a:latin typeface="Grandview Display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Grandview Display"/>
              </a:rPr>
              <a:t>Clique para editar o formato do texto da estrutura de tópicos</a:t>
            </a: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600" spc="-1" strike="noStrike">
                <a:solidFill>
                  <a:srgbClr val="000000"/>
                </a:solidFill>
                <a:latin typeface="Grandview Display"/>
              </a:rPr>
              <a:t>2.º nível da estrutura de tópicos</a:t>
            </a:r>
            <a:endParaRPr b="0" lang="de-DE" sz="1600" spc="-1" strike="noStrike">
              <a:solidFill>
                <a:srgbClr val="000000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rgbClr val="000000"/>
                </a:solidFill>
                <a:latin typeface="Grandview Display"/>
              </a:rPr>
              <a:t>3.º nível da estrutura de tópicos</a:t>
            </a:r>
            <a:endParaRPr b="0" lang="de-DE" sz="1400" spc="-1" strike="noStrike">
              <a:solidFill>
                <a:srgbClr val="000000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rgbClr val="000000"/>
                </a:solidFill>
                <a:latin typeface="Grandview Display"/>
              </a:rPr>
              <a:t>4.º nível da estrutura de tópicos</a:t>
            </a:r>
            <a:endParaRPr b="0" lang="de-DE" sz="1400" spc="-1" strike="noStrike">
              <a:solidFill>
                <a:srgbClr val="000000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Grandview Display"/>
              </a:rPr>
              <a:t>5.º nível da estrutura de tópicos</a:t>
            </a: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Grandview Display"/>
              </a:rPr>
              <a:t>6.º nível da estrutura de tópicos</a:t>
            </a: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Grandview Display"/>
              </a:rPr>
              <a:t>7.º nível da estrutura de tópicos</a:t>
            </a: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traight Connector 8"/>
          <p:cNvSpPr/>
          <p:nvPr/>
        </p:nvSpPr>
        <p:spPr>
          <a:xfrm>
            <a:off x="713160" y="1030680"/>
            <a:ext cx="978840" cy="360"/>
          </a:xfrm>
          <a:prstGeom prst="line">
            <a:avLst/>
          </a:prstGeom>
          <a:ln w="76200">
            <a:solidFill>
              <a:srgbClr val="197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720" cy="109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Grandview Display"/>
              </a:rPr>
              <a:t>Click to edit Master title style</a:t>
            </a:r>
            <a:endParaRPr b="0" lang="de-DE" sz="4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40080" y="2633400"/>
            <a:ext cx="10890720" cy="356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randview Display"/>
              </a:rPr>
              <a:t>Click to edit Master text styles</a:t>
            </a:r>
            <a:endParaRPr b="0" lang="de-DE" sz="2000" spc="-1" strike="noStrike">
              <a:solidFill>
                <a:srgbClr val="000000"/>
              </a:solidFill>
              <a:latin typeface="Grandview Display"/>
            </a:endParaRPr>
          </a:p>
          <a:p>
            <a:pPr lvl="1" marL="493920" indent="-2286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randview Display"/>
              </a:rPr>
              <a:t>Second level</a:t>
            </a:r>
            <a:endParaRPr b="0" lang="de-DE" sz="1800" spc="-1" strike="noStrike">
              <a:solidFill>
                <a:srgbClr val="000000"/>
              </a:solidFill>
              <a:latin typeface="Grandview Display"/>
            </a:endParaRPr>
          </a:p>
          <a:p>
            <a:pPr lvl="2" marL="731520" indent="-2286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randview Display"/>
              </a:rPr>
              <a:t>Third level</a:t>
            </a:r>
            <a:endParaRPr b="0" lang="de-DE" sz="1600" spc="-1" strike="noStrike">
              <a:solidFill>
                <a:srgbClr val="000000"/>
              </a:solidFill>
              <a:latin typeface="Grandview Display"/>
            </a:endParaRPr>
          </a:p>
          <a:p>
            <a:pPr lvl="3" marL="1051560" indent="-285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randview Display"/>
              </a:rPr>
              <a:t>Fourth level</a:t>
            </a:r>
            <a:endParaRPr b="0" lang="de-DE" sz="1400" spc="-1" strike="noStrike">
              <a:solidFill>
                <a:srgbClr val="000000"/>
              </a:solidFill>
              <a:latin typeface="Grandview Display"/>
            </a:endParaRPr>
          </a:p>
          <a:p>
            <a:pPr lvl="4" marL="1298520" indent="-2286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randview Display"/>
              </a:rPr>
              <a:t>Fifth level</a:t>
            </a:r>
            <a:endParaRPr b="0" lang="de-DE" sz="14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640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900" spc="299" strike="noStrike" cap="all">
                <a:solidFill>
                  <a:srgbClr val="000000"/>
                </a:solidFill>
                <a:latin typeface="Grandview Display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rgbClr val="000000"/>
                </a:solidFill>
                <a:latin typeface="Grandview Display"/>
              </a:rPr>
              <a:t>&lt;data/hora&gt;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299" strike="noStrike" cap="all">
                <a:solidFill>
                  <a:srgbClr val="000000"/>
                </a:solidFill>
                <a:latin typeface="Grandview Display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8CFB4C-14E8-4588-AA5D-D36B4C1DB5C4}" type="slidenum">
              <a:rPr b="1" lang="en-US" sz="900" spc="299" strike="noStrike" cap="all">
                <a:solidFill>
                  <a:srgbClr val="000000"/>
                </a:solidFill>
                <a:latin typeface="Grandview Display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92880" y="5469840"/>
            <a:ext cx="4532760" cy="73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00"/>
          </a:bodyPr>
          <a:p>
            <a:pPr>
              <a:lnSpc>
                <a:spcPct val="100000"/>
              </a:lnSpc>
              <a:buNone/>
            </a:pPr>
            <a:r>
              <a:rPr b="1" lang="de-DE" sz="4800" spc="-1" strike="noStrike">
                <a:solidFill>
                  <a:srgbClr val="3d3d3d"/>
                </a:solidFill>
                <a:latin typeface="Grandview Display"/>
              </a:rPr>
              <a:t>Título</a:t>
            </a:r>
            <a:endParaRPr b="0" lang="de-DE" sz="48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86" name="Straight Connector 21"/>
          <p:cNvSpPr/>
          <p:nvPr/>
        </p:nvSpPr>
        <p:spPr>
          <a:xfrm flipV="1">
            <a:off x="15480" y="0"/>
            <a:ext cx="360" cy="1152000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7" name="Imagem 2" descr="Interface gráfica do usuário, Site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8" name="CaixaDeTexto 4"/>
          <p:cNvSpPr/>
          <p:nvPr/>
        </p:nvSpPr>
        <p:spPr>
          <a:xfrm>
            <a:off x="1529280" y="5558760"/>
            <a:ext cx="2431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pt-BR" sz="3000" spc="-1" strike="noStrike">
                <a:solidFill>
                  <a:srgbClr val="000000"/>
                </a:solidFill>
                <a:latin typeface="Aharoni"/>
              </a:rPr>
              <a:t>LIFE BANK</a:t>
            </a:r>
            <a:endParaRPr b="0" lang="pt-BR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14880" y="146160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Introdução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1" name="CaixaDeTexto 2"/>
          <p:cNvSpPr/>
          <p:nvPr/>
        </p:nvSpPr>
        <p:spPr>
          <a:xfrm>
            <a:off x="2011320" y="2711160"/>
            <a:ext cx="9268560" cy="33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Controle de Estoque.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Programa de Incentivo para Doadores.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Inovação para Bancos de Sangue.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14880" y="156636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Tema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4" name="CaixaDeTexto 2"/>
          <p:cNvSpPr/>
          <p:nvPr/>
        </p:nvSpPr>
        <p:spPr>
          <a:xfrm>
            <a:off x="1461600" y="2621160"/>
            <a:ext cx="9268560" cy="33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Armazenamento de sangue, focando em melhorar o controle do estoque e aumentar a fidelidade dos doadores.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14880" y="123372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Objetivo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97" name="CaixaDeTexto 2"/>
          <p:cNvSpPr/>
          <p:nvPr/>
        </p:nvSpPr>
        <p:spPr>
          <a:xfrm>
            <a:off x="1008360" y="2326320"/>
            <a:ext cx="10175040" cy="35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Desenvolver sistema de controle de estoque.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Implementar programa de incentivo.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Estimar demanda futura.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Melhorar a gestão dos bancos de sangue.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14880" y="106380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 </a:t>
            </a: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Descrição do Projeto</a:t>
            </a:r>
            <a:br>
              <a:rPr sz="5500"/>
            </a:b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00" name="CaixaDeTexto 2"/>
          <p:cNvSpPr/>
          <p:nvPr/>
        </p:nvSpPr>
        <p:spPr>
          <a:xfrm>
            <a:off x="18360" y="2233080"/>
            <a:ext cx="11624400" cy="49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1" lang="en-US" sz="3500" spc="-1" strike="noStrike">
                <a:solidFill>
                  <a:srgbClr val="151515"/>
                </a:solidFill>
                <a:latin typeface="Arimo Bold"/>
                <a:ea typeface="Arimo Bold"/>
              </a:rPr>
              <a:t>Inovação: </a:t>
            </a: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Programa de descontos em clínicas de exames para doadores.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1" lang="en-US" sz="3500" spc="-1" strike="noStrike">
                <a:solidFill>
                  <a:srgbClr val="151515"/>
                </a:solidFill>
                <a:latin typeface="Arimo Bold"/>
                <a:ea typeface="Arimo Bold"/>
              </a:rPr>
              <a:t>Sistema: </a:t>
            </a: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Controle de estoque para bancos de sangue e clínicas de exames com alertas de estoque mínimo/máximo e previsão de demanda.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080" y="111672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Problema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03" name="CaixaDeTexto 2"/>
          <p:cNvSpPr/>
          <p:nvPr/>
        </p:nvSpPr>
        <p:spPr>
          <a:xfrm>
            <a:off x="242640" y="2068560"/>
            <a:ext cx="11359440" cy="43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Desafios na gestão de estoques de sangue.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Falta de doações regulares.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Dificuldade em prever a demanda de diferentes tipos sanguíneos.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Falta de incentivos para doadores regulares.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14880" y="139068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Hipótese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06" name="CaixaDeTexto 2"/>
          <p:cNvSpPr/>
          <p:nvPr/>
        </p:nvSpPr>
        <p:spPr>
          <a:xfrm>
            <a:off x="614880" y="2463120"/>
            <a:ext cx="1050768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Implementação de um sistema de controle de estoque e programa de incentivo para aumentar doações e garantir um suprimento estável de sangue.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14880" y="124740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Público de Interesse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09" name="CaixaDeTexto 2"/>
          <p:cNvSpPr/>
          <p:nvPr/>
        </p:nvSpPr>
        <p:spPr>
          <a:xfrm>
            <a:off x="2192760" y="2391480"/>
            <a:ext cx="831348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Bancos de Sangue e Hospitais.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Doadores de Sangue.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Clínicas de Exames de Sangue.</a:t>
            </a:r>
            <a:endParaRPr b="0" lang="pt-BR" sz="3500" spc="-1" strike="noStrike">
              <a:latin typeface="Arial"/>
            </a:endParaRPr>
          </a:p>
          <a:p>
            <a:pPr lvl="2" marL="580680" indent="-193680">
              <a:lnSpc>
                <a:spcPts val="6301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3500" spc="-1" strike="noStrike">
                <a:solidFill>
                  <a:srgbClr val="151515"/>
                </a:solidFill>
                <a:latin typeface="arial"/>
                <a:ea typeface="arial"/>
              </a:rPr>
              <a:t>Profissionais da Saúde.</a:t>
            </a:r>
            <a:endParaRPr b="0" lang="pt-BR" sz="3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19360" y="119340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Testes Implementado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12" name="CaixaDeTexto 2"/>
          <p:cNvSpPr/>
          <p:nvPr/>
        </p:nvSpPr>
        <p:spPr>
          <a:xfrm>
            <a:off x="197640" y="2194200"/>
            <a:ext cx="12205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2700000" y="2346120"/>
            <a:ext cx="6731280" cy="395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19360" y="119340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</a:rPr>
              <a:t>Resutado Esperado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16" name="CaixaDeTexto 2"/>
          <p:cNvSpPr/>
          <p:nvPr/>
        </p:nvSpPr>
        <p:spPr>
          <a:xfrm>
            <a:off x="197640" y="2194200"/>
            <a:ext cx="12205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1620000" y="2372400"/>
            <a:ext cx="8789400" cy="392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53160" y="115308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000" spc="-128" strike="noStrike">
                <a:solidFill>
                  <a:srgbClr val="000000"/>
                </a:solidFill>
                <a:latin typeface="Arimo Bold"/>
                <a:ea typeface="Arimo Bold"/>
              </a:rPr>
              <a:t>Referências</a:t>
            </a:r>
            <a:endParaRPr b="0" lang="de-DE" sz="5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20" name="CaixaDeTexto 2"/>
          <p:cNvSpPr/>
          <p:nvPr/>
        </p:nvSpPr>
        <p:spPr>
          <a:xfrm>
            <a:off x="-268560" y="1969560"/>
            <a:ext cx="12205440" cy="54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497880" indent="-165960">
              <a:lnSpc>
                <a:spcPts val="5400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2000" spc="-1" strike="noStrike">
                <a:solidFill>
                  <a:srgbClr val="151515"/>
                </a:solidFill>
                <a:latin typeface="arial"/>
                <a:ea typeface="arial"/>
              </a:rPr>
              <a:t>TDSA. Saiba quais recursos podem melhorar a gestão do seu banco de sangue. 2023. Disponível em: https://tdsa.com.br/blog/saiba-quais-recursos-podem-melhorar-a-gestao-do-seu-banco-de-sangue/.</a:t>
            </a:r>
            <a:endParaRPr b="0" lang="pt-BR" sz="2000" spc="-1" strike="noStrike">
              <a:latin typeface="Arial"/>
            </a:endParaRPr>
          </a:p>
          <a:p>
            <a:pPr lvl="2" marL="497880" indent="-165960">
              <a:lnSpc>
                <a:spcPts val="5400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2000" spc="-1" strike="noStrike">
                <a:solidFill>
                  <a:srgbClr val="151515"/>
                </a:solidFill>
                <a:latin typeface="arial"/>
                <a:ea typeface="arial"/>
              </a:rPr>
              <a:t>G1. A medida simples que incentiva pessoas a doarem sangue de novo. 2023. Disponível em: https://g1.globo.com/mundo/noticia/2023/10/29/a-medida-simples-que-incentiva-pessoas-a-doarem-sangue-de-novo.ghtml.</a:t>
            </a:r>
            <a:endParaRPr b="0" lang="pt-BR" sz="2000" spc="-1" strike="noStrike">
              <a:latin typeface="Arial"/>
            </a:endParaRPr>
          </a:p>
          <a:p>
            <a:pPr lvl="2" marL="497880" indent="-165960">
              <a:lnSpc>
                <a:spcPts val="5400"/>
              </a:lnSpc>
              <a:buClr>
                <a:srgbClr val="151515"/>
              </a:buClr>
              <a:buFont typeface="Arial"/>
              <a:buChar char="⚬"/>
            </a:pPr>
            <a:r>
              <a:rPr b="0" lang="en-US" sz="2000" spc="-1" strike="noStrike">
                <a:solidFill>
                  <a:srgbClr val="151515"/>
                </a:solidFill>
                <a:latin typeface="arial"/>
                <a:ea typeface="arial"/>
              </a:rPr>
              <a:t>Gestão de Hemocentros: Relatos de Práticas Desenvolvidas no Brasil. Ministério da Saúde, 2016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360" y="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14880" y="290844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28" strike="noStrike">
                <a:solidFill>
                  <a:srgbClr val="000000"/>
                </a:solidFill>
                <a:latin typeface="Arimo Bold"/>
                <a:ea typeface="Arimo Bold"/>
              </a:rPr>
              <a:t>Apresentação dos Testes</a:t>
            </a:r>
            <a:endParaRPr b="0" lang="de-DE" sz="6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23" name="CaixaDeTexto 2"/>
          <p:cNvSpPr/>
          <p:nvPr/>
        </p:nvSpPr>
        <p:spPr>
          <a:xfrm>
            <a:off x="197640" y="2194200"/>
            <a:ext cx="12205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Content Placeholder 5" descr="Interface gráfica do usuário, Texto, Aplicativo, Email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180000" y="-18360"/>
            <a:ext cx="12205440" cy="6858360"/>
          </a:xfrm>
          <a:prstGeom prst="rect">
            <a:avLst/>
          </a:prstGeom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40080" y="1362240"/>
            <a:ext cx="10962000" cy="83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000" spc="-128" strike="noStrike">
                <a:solidFill>
                  <a:srgbClr val="000000"/>
                </a:solidFill>
                <a:latin typeface="Arimo Bold"/>
                <a:ea typeface="Arimo Bold"/>
              </a:rPr>
              <a:t>Agradecimentos</a:t>
            </a:r>
            <a:endParaRPr b="0" lang="de-DE" sz="5000" spc="-1" strike="noStrike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126" name="CaixaDeTexto 2"/>
          <p:cNvSpPr/>
          <p:nvPr/>
        </p:nvSpPr>
        <p:spPr>
          <a:xfrm>
            <a:off x="1148040" y="2549880"/>
            <a:ext cx="9912600" cy="25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5500" spc="-1" strike="noStrike">
                <a:solidFill>
                  <a:srgbClr val="151515"/>
                </a:solidFill>
                <a:latin typeface="Arimo Bold"/>
                <a:ea typeface="Arimo Bold"/>
              </a:rPr>
              <a:t>OBRIGADO PELA ATENÇÃO!</a:t>
            </a:r>
            <a:endParaRPr b="0" lang="pt-BR" sz="5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sp>
        <p:nvSpPr>
          <p:cNvPr id="127" name="Freeform 5"/>
          <p:cNvSpPr/>
          <p:nvPr/>
        </p:nvSpPr>
        <p:spPr>
          <a:xfrm>
            <a:off x="1148040" y="3965760"/>
            <a:ext cx="2111760" cy="2154240"/>
          </a:xfrm>
          <a:custGeom>
            <a:avLst/>
            <a:gdLst/>
            <a:ahLst/>
            <a:rect l="l" t="t" r="r" b="b"/>
            <a:pathLst>
              <a:path w="3148255" h="3645348">
                <a:moveTo>
                  <a:pt x="0" y="0"/>
                </a:moveTo>
                <a:lnTo>
                  <a:pt x="3148256" y="0"/>
                </a:lnTo>
                <a:lnTo>
                  <a:pt x="3148256" y="3645348"/>
                </a:lnTo>
                <a:lnTo>
                  <a:pt x="0" y="36453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Freeform 1"/>
          <p:cNvSpPr/>
          <p:nvPr/>
        </p:nvSpPr>
        <p:spPr>
          <a:xfrm>
            <a:off x="8948880" y="4140000"/>
            <a:ext cx="2111760" cy="2154240"/>
          </a:xfrm>
          <a:custGeom>
            <a:avLst/>
            <a:gdLst/>
            <a:ahLst/>
            <a:rect l="l" t="t" r="r" b="b"/>
            <a:pathLst>
              <a:path w="3148255" h="3645348">
                <a:moveTo>
                  <a:pt x="0" y="0"/>
                </a:moveTo>
                <a:lnTo>
                  <a:pt x="3148256" y="0"/>
                </a:lnTo>
                <a:lnTo>
                  <a:pt x="3148256" y="3645348"/>
                </a:lnTo>
                <a:lnTo>
                  <a:pt x="0" y="36453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Application>LibreOffice/7.3.7.2$Linux_X86_64 LibreOffice_project/30$Build-2</Application>
  <AppVersion>15.0000</AppVersion>
  <Words>282</Words>
  <Paragraphs>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2025-06-03T13:07:46Z</dcterms:created>
  <dc:creator>Alencar Rodrigues</dc:creator>
  <dc:description/>
  <dc:language>pt-BR</dc:language>
  <cp:lastModifiedBy/>
  <dcterms:modified xsi:type="dcterms:W3CDTF">2025-12-02T17:27:51Z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